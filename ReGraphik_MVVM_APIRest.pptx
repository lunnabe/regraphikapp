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18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6900-1CDD-FF4B-9EB3-B25956893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BA99C-1D66-10CE-21B4-E66A6F825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B1D7F-F993-CEF1-9B20-A2A213776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2A76B-014A-A9B1-F1F0-FF13472BE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48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41FA-FB3E-4A6A-3690-C7AF5172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0D3BF-2811-52D0-D742-6C153AFD6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F3F1F-2F4E-BC6A-EE21-8E519CEFC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76D13-25CD-36CB-E49D-BB1961062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10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828800"/>
          </a:xfrm>
          <a:prstGeom prst="rect">
            <a:avLst/>
          </a:prstGeom>
          <a:solidFill>
            <a:srgbClr val="0A1E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B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SENAI 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ReGraphik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MVVM  ·  Separação de Responsabilidades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Comunicação  &amp;  Integração de APIs REST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200400" cy="36576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9992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· Otávio · Lucas · Luna · Kaio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572768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520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21992" y="3520440"/>
            <a:ext cx="1572768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21992" y="3520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· MVVM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41064" y="3520440"/>
            <a:ext cx="1572768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41064" y="3520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0136" y="3520440"/>
            <a:ext cx="1572768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0136" y="3520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79208" y="3520440"/>
            <a:ext cx="1572768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79208" y="3520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commits · master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13716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3716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3716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13716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64008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64008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64008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64008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114300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14300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14300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114300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164592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5240" y="164592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164592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164592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14884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5240" y="214884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14884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41080" y="2148840"/>
            <a:ext cx="411480" cy="411480"/>
          </a:xfrm>
          <a:prstGeom prst="rect">
            <a:avLst/>
          </a:prstGeom>
          <a:solidFill>
            <a:srgbClr val="0D2847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82880" cy="182880"/>
          </a:xfrm>
          <a:prstGeom prst="ellipse">
            <a:avLst/>
          </a:prstGeom>
          <a:solidFill>
            <a:srgbClr val="1749A3"/>
          </a:solidFill>
          <a:ln w="12700">
            <a:solidFill>
              <a:srgbClr val="1749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71800" y="886968"/>
            <a:ext cx="182880" cy="182880"/>
          </a:xfrm>
          <a:prstGeom prst="ellipse">
            <a:avLst/>
          </a:prstGeom>
          <a:solidFill>
            <a:srgbClr val="2F80ED">
              <a:alpha val="80000"/>
            </a:srgbClr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18688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886968"/>
            <a:ext cx="182880" cy="18288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8595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Futura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170432"/>
            <a:ext cx="8321040" cy="20117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2984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298448"/>
            <a:ext cx="1993392" cy="201168"/>
          </a:xfrm>
          <a:prstGeom prst="rect">
            <a:avLst/>
          </a:prstGeom>
          <a:solidFill>
            <a:srgbClr val="1749A3"/>
          </a:solidFill>
          <a:ln w="12700">
            <a:solidFill>
              <a:srgbClr val="1749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984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/ Pontos de Coleta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1396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2128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— localização de pontos próximos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7752" y="12984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87752" y="1298448"/>
            <a:ext cx="1993392" cy="2011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2984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07792" y="21396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22128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 indicadores de estoque em tempo real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64024" y="12984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64024" y="1298448"/>
            <a:ext cx="1993392" cy="2011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12984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55464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Resíduo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84064" y="21396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22128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Triagem, classificação e registro com anexo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0296" y="12984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0296" y="1298448"/>
            <a:ext cx="1993392" cy="2011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2984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031736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60336" y="21396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22128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recomendação por tipo de material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1272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127248"/>
            <a:ext cx="1993392" cy="2011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1272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CONSTRUÇÃO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39684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0416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histórico e dados operacionais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87752" y="31272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87752" y="3127248"/>
            <a:ext cx="1993392" cy="2011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7752" y="31272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79192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07792" y="39684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60904" y="40416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entre usuários da plataforma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64024" y="31272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64024" y="3127248"/>
            <a:ext cx="1993392" cy="2011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4024" y="31272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55464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Notificações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084064" y="39684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37176" y="40416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de estoque e pendências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0296" y="3127248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1F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40296" y="3127248"/>
            <a:ext cx="1993392" cy="2011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31272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31736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Consulta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260336" y="3968496"/>
            <a:ext cx="1353312" cy="16459"/>
          </a:xfrm>
          <a:prstGeom prst="rect">
            <a:avLst/>
          </a:prstGeom>
          <a:solidFill>
            <a:srgbClr val="D4E1F2"/>
          </a:solidFill>
          <a:ln w="12700">
            <a:solidFill>
              <a:srgbClr val="D4E1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13448" y="404164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rastreabilidade de operações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MVVM — Separação de Responsabilidades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676656"/>
            <a:ext cx="8686800" cy="822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76656"/>
            <a:ext cx="1572768" cy="822960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676656"/>
            <a:ext cx="15727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137514"/>
            <a:ext cx="1572768" cy="36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 / WPF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768096"/>
            <a:ext cx="6858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· Pages · UserControls  —  Binding declarativo via XAML, zero code-behind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502920" cy="137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655064"/>
            <a:ext cx="8686800" cy="822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55064"/>
            <a:ext cx="1572768" cy="8229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655064"/>
            <a:ext cx="15727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" y="2115922"/>
            <a:ext cx="1572768" cy="36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— BaseViewModel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746504"/>
            <a:ext cx="6858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ResiduoViewModel · LoginViewModel · MapViewModel  —  INotifyPropertyChanged · RelayCommand · ObservableCollection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487168"/>
            <a:ext cx="502920" cy="137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633472"/>
            <a:ext cx="8686800" cy="822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633472"/>
            <a:ext cx="1572768" cy="82296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633472"/>
            <a:ext cx="15727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" y="3094330"/>
            <a:ext cx="1572768" cy="36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 Domínio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724912"/>
            <a:ext cx="6858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· Residuo · Sugestao · SugestaoResiduo · PontosColeta  —  POCO puro, sem dependência de UI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65576"/>
            <a:ext cx="502920" cy="137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3611880"/>
            <a:ext cx="8686800" cy="822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11880"/>
            <a:ext cx="1572768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" y="3611880"/>
            <a:ext cx="15727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" y="4072738"/>
            <a:ext cx="1572768" cy="362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HTTP &amp; APIs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3703320"/>
            <a:ext cx="685800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GooglePlacesService · ApiService (REST)  —  HttpClient · Async/Await · Injeção de dependência via construtor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553712"/>
            <a:ext cx="86868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 ·  RelayCommand — ICommand implementado via BaseViewModel, binding de ações direto ao botão XAML, sem code-behind  ·  Obrigatório nesta entrega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 &amp; Commands — Revisão de Acoplamentos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114800" cy="4251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85800"/>
            <a:ext cx="4114800" cy="384048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685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ViewModels — Checklist MVVM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188720"/>
            <a:ext cx="384048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243584"/>
            <a:ext cx="274320" cy="274320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188720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BaseViewModel com INotifyPropertyChanged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664208"/>
            <a:ext cx="384048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719072"/>
            <a:ext cx="274320" cy="274320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1664208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ResiduoViewModel herda de BaseViewModel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2139696"/>
            <a:ext cx="384048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2194560"/>
            <a:ext cx="274320" cy="274320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139696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RelayCommand implementado (ICommand)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" y="2615184"/>
            <a:ext cx="384048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1" name="Text 19"/>
          <p:cNvSpPr/>
          <p:nvPr/>
        </p:nvSpPr>
        <p:spPr>
          <a:xfrm>
            <a:off x="3474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2688336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 documentação de endpoints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685800"/>
            <a:ext cx="4389120" cy="4251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685800"/>
            <a:ext cx="4389120" cy="38404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685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Padrão de Binding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1152144"/>
            <a:ext cx="4206240" cy="1920240"/>
          </a:xfrm>
          <a:prstGeom prst="rect">
            <a:avLst/>
          </a:prstGeom>
          <a:solidFill>
            <a:srgbClr val="05101C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207008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RelayCommand.cs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RelayCommand : ICommand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  Action&lt;object&gt; _execute;
  Func&lt;object,bool&gt; _canExecute;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CanExecute(object p)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_canExecute?.Invoke(p) ?? true;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Execute(object p)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_execute(p);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31638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na View (XAML):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438144"/>
            <a:ext cx="4206240" cy="640080"/>
          </a:xfrm>
          <a:prstGeom prst="rect">
            <a:avLst/>
          </a:prstGeom>
          <a:solidFill>
            <a:srgbClr val="05101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474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Command="{Binding SalvarCommand}"
        CommandParameter="{Binding Residuo}"/&gt;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63440" y="4160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executa a lógica via binding — a View nunca acessa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ViewModel diretamente, garantindo o desacoplamento MVVM.</a:t>
            </a:r>
            <a:endParaRPr lang="en-US" sz="10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F4223F8D-CD97-90E5-9F49-95BA9E43732D}"/>
              </a:ext>
            </a:extLst>
          </p:cNvPr>
          <p:cNvSpPr/>
          <p:nvPr/>
        </p:nvSpPr>
        <p:spPr>
          <a:xfrm>
            <a:off x="347472" y="2688336"/>
            <a:ext cx="274320" cy="274320"/>
          </a:xfrm>
          <a:prstGeom prst="ellipse">
            <a:avLst/>
          </a:prstGeom>
          <a:solidFill>
            <a:srgbClr val="5BA8F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4311636-82A9-3EB2-47D6-3DB163A0FDFD}"/>
              </a:ext>
            </a:extLst>
          </p:cNvPr>
          <p:cNvSpPr/>
          <p:nvPr/>
        </p:nvSpPr>
        <p:spPr>
          <a:xfrm>
            <a:off x="347472" y="2724912"/>
            <a:ext cx="3255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  <a:p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7B55-B6E7-063E-984C-746F32CE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0956B0-59B7-DA61-F828-1038989CCE7F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4B7800-0B29-93E9-3C66-096A86BC9874}"/>
              </a:ext>
            </a:extLst>
          </p:cNvPr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UI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7096F7-EDFC-EC74-D204-3D539C950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9144000" cy="45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0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Endpoints Implementados  (ApiRestReGraphik)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9494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94944"/>
            <a:ext cx="822960" cy="91440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69494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7498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/api/residuos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os resíduos com filtros opcionais de status e tipo.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69494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694944"/>
            <a:ext cx="822960" cy="91440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69494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59552" y="7498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/api/residuos/{id}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59552" y="1097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resíduo específico com histórico de sugestões aplicadas.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174650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1746504"/>
            <a:ext cx="822960" cy="9144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17465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18013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/api/residuos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2148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novo resíduo — valida tipo, dimensões e usuário autenticado.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74650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746504"/>
            <a:ext cx="82296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7465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59552" y="180136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/api/residuos/{id}/status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9552" y="214884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status (ativo, em_uso, descartado) com log de alteração.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79806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798064"/>
            <a:ext cx="822960" cy="9144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279806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" y="28529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/api/residuos/{id}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32004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resíduo — requer perfil ADMIN, registra auditoria.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79806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98064"/>
            <a:ext cx="822960" cy="91440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79806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9552" y="28529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/api/usuarios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59552" y="32004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usuários — restrito ao perfil ADMIN.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384962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849624"/>
            <a:ext cx="822960" cy="9144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38496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/api/sugestoes/aplicar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" y="42519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sugestão de reaproveitamento — gera registro SugestaoResiduo.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849624"/>
            <a:ext cx="4297680" cy="914400"/>
          </a:xfrm>
          <a:prstGeom prst="rect">
            <a:avLst/>
          </a:prstGeom>
          <a:solidFill>
            <a:srgbClr val="0A1E35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849624"/>
            <a:ext cx="822960" cy="91440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8496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59552" y="39044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/api/coleta/proximos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59552" y="42519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GooglePlacesService — retorna pontos por lat/lng.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Distribuída — GooglePlacesService &amp; Async/Await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1618488" cy="1005840"/>
          </a:xfrm>
          <a:prstGeom prst="rect">
            <a:avLst/>
          </a:prstGeom>
          <a:solidFill>
            <a:srgbClr val="0F346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713232"/>
            <a:ext cx="161848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7160" y="1335024"/>
            <a:ext cx="16184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BuscarPontosCommand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55648" y="1152144"/>
            <a:ext cx="182880" cy="457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Shape 6"/>
          <p:cNvSpPr/>
          <p:nvPr/>
        </p:nvSpPr>
        <p:spPr>
          <a:xfrm>
            <a:off x="1938528" y="713232"/>
            <a:ext cx="1618488" cy="1005840"/>
          </a:xfrm>
          <a:prstGeom prst="rect">
            <a:avLst/>
          </a:prstGeom>
          <a:solidFill>
            <a:srgbClr val="1A4A8A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38528" y="713232"/>
            <a:ext cx="161848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GooglePlacesService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38528" y="1335024"/>
            <a:ext cx="16184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HttpClient.GetAsync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57016" y="1152144"/>
            <a:ext cx="182880" cy="457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9896" y="713232"/>
            <a:ext cx="1618488" cy="1005840"/>
          </a:xfrm>
          <a:prstGeom prst="rect">
            <a:avLst/>
          </a:prstGeom>
          <a:solidFill>
            <a:srgbClr val="1E6EBF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713232"/>
            <a:ext cx="161848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39896" y="1335024"/>
            <a:ext cx="16184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58384" y="1152144"/>
            <a:ext cx="182880" cy="457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6" name="Shape 14"/>
          <p:cNvSpPr/>
          <p:nvPr/>
        </p:nvSpPr>
        <p:spPr>
          <a:xfrm>
            <a:off x="5541264" y="713232"/>
            <a:ext cx="1618488" cy="1005840"/>
          </a:xfrm>
          <a:prstGeom prst="rect">
            <a:avLst/>
          </a:prstGeom>
          <a:solidFill>
            <a:srgbClr val="2E8DE8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713232"/>
            <a:ext cx="161848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41264" y="1335024"/>
            <a:ext cx="16184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List&lt;PontosColeta&gt;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9752" y="1152144"/>
            <a:ext cx="182880" cy="457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42632" y="713232"/>
            <a:ext cx="1618488" cy="1005840"/>
          </a:xfrm>
          <a:prstGeom prst="rect">
            <a:avLst/>
          </a:prstGeom>
          <a:solidFill>
            <a:srgbClr val="5BA8F0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42632" y="713232"/>
            <a:ext cx="1618488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ObservableCollection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42632" y="1335024"/>
            <a:ext cx="16184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via binding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1883664"/>
            <a:ext cx="8778240" cy="2029968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solidFill>
              <a:srgbClr val="0F3460"/>
            </a:solidFill>
            <a:prstDash val="solid"/>
          </a:ln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" y="1956816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GooglePlacesService.cs — Service desacoplada da ViewModel</a:t>
            </a:r>
            <a:r>
              <a:rPr lang="en-US" sz="950" dirty="0">
                <a:solidFill>
                  <a:srgbClr val="2E8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GooglePlacesService
{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HttpClient _http;
</a:t>
            </a: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Task&lt;List&lt;PontosColeta&gt;&gt; BuscarPontosAsync(double lat, double lng)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        var url = $"https://maps.googleapis.com/maps/api/place/nearbysearch/json?location={lat},{lng}&amp;radius=2000&amp;key={_key}";
        var response = await _http.GetAsync(url);   </a:t>
            </a:r>
            <a:r>
              <a:rPr lang="en-US" sz="95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não bloqueia a UI thread</a:t>
            </a:r>
            <a:r>
              <a:rPr lang="en-US" sz="950" dirty="0">
                <a:solidFill>
                  <a:srgbClr val="2E8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json = await response.Content.ReadAsStringAsync();
        return JsonSerializer.Deserialize&lt;List&lt;PontosColeta&gt;&gt;(json);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4059936"/>
            <a:ext cx="2834640" cy="8412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6EB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4059936"/>
            <a:ext cx="54864" cy="84124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" y="4087368"/>
            <a:ext cx="2633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garante que a UI nunca trava durante chamadas HTTP externas.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72968" y="4059936"/>
            <a:ext cx="2834640" cy="8412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6EB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4059936"/>
            <a:ext cx="54864" cy="84124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30" name="Text 28"/>
          <p:cNvSpPr/>
          <p:nvPr/>
        </p:nvSpPr>
        <p:spPr>
          <a:xfrm>
            <a:off x="3300984" y="4087368"/>
            <a:ext cx="2633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completamente desacoplada — ViewModel não toca no HttpClient.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4059936"/>
            <a:ext cx="2834640" cy="8412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6EB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4059936"/>
            <a:ext cx="54864" cy="84124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4087368"/>
            <a:ext cx="2633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via construtor habilita testes unitários com mocks.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4CED-67D2-61D6-1CFB-5DEA5B65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F2399A-A6A1-BB47-E955-1A0632CD95C9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D2D23D-E115-9CCE-C553-2FDCF2A1CCD3}"/>
              </a:ext>
            </a:extLst>
          </p:cNvPr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chemeClr val="bg1"/>
                </a:solidFill>
              </a:rPr>
              <a:t>APIRestReGraphik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BEAFC6D-F9BA-77E7-CFFE-FED693A30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027" y="594360"/>
            <a:ext cx="3831101" cy="454202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20F8939-F3A1-44CE-8CB5-653E51FC9561}"/>
              </a:ext>
            </a:extLst>
          </p:cNvPr>
          <p:cNvSpPr/>
          <p:nvPr/>
        </p:nvSpPr>
        <p:spPr>
          <a:xfrm>
            <a:off x="0" y="594360"/>
            <a:ext cx="2823027" cy="454202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D2F2BD3-07D1-4FC5-AB96-6DECD52E1350}"/>
              </a:ext>
            </a:extLst>
          </p:cNvPr>
          <p:cNvSpPr/>
          <p:nvPr/>
        </p:nvSpPr>
        <p:spPr>
          <a:xfrm>
            <a:off x="6462272" y="601473"/>
            <a:ext cx="2681728" cy="454202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10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Integração — Estado Atual do Sistema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37160" y="676656"/>
            <a:ext cx="2331720" cy="3383280"/>
          </a:xfrm>
          <a:prstGeom prst="rect">
            <a:avLst/>
          </a:prstGeom>
          <a:solidFill>
            <a:srgbClr val="0A1E35"/>
          </a:solidFill>
          <a:ln w="25400">
            <a:solidFill>
              <a:srgbClr val="2E8DE8"/>
            </a:solidFill>
            <a:prstDash val="solid"/>
          </a:ln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676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57400" cy="502920"/>
          </a:xfrm>
          <a:prstGeom prst="rect">
            <a:avLst/>
          </a:prstGeom>
          <a:solidFill>
            <a:srgbClr val="5BA8F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(XAML)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2057400" cy="502920"/>
          </a:xfrm>
          <a:prstGeom prst="rect">
            <a:avLst/>
          </a:prstGeom>
          <a:solidFill>
            <a:srgbClr val="1E6EB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556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14016"/>
            <a:ext cx="2057400" cy="502920"/>
          </a:xfrm>
          <a:prstGeom prst="rect">
            <a:avLst/>
          </a:prstGeom>
          <a:solidFill>
            <a:srgbClr val="1A4A8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4140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2057400" cy="502920"/>
          </a:xfrm>
          <a:prstGeom prst="rect">
            <a:avLst/>
          </a:prstGeom>
          <a:solidFill>
            <a:srgbClr val="0F3460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0723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002536"/>
            <a:ext cx="868680" cy="45720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810512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37560" y="676656"/>
            <a:ext cx="2468880" cy="3383280"/>
          </a:xfrm>
          <a:prstGeom prst="rect">
            <a:avLst/>
          </a:prstGeom>
          <a:solidFill>
            <a:srgbClr val="0A1E35"/>
          </a:solidFill>
          <a:ln w="25400">
            <a:solidFill>
              <a:srgbClr val="1E6EBF"/>
            </a:solidFill>
            <a:prstDash val="solid"/>
          </a:ln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6766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ApiRestReGraphik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1261872"/>
            <a:ext cx="2194560" cy="402336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2618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(CRUD)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1783080"/>
            <a:ext cx="2194560" cy="402336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7830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304288"/>
            <a:ext cx="2194560" cy="40233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3042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825496"/>
            <a:ext cx="2194560" cy="40233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8254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/ Mapping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1371600"/>
            <a:ext cx="777240" cy="457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11704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0" y="676656"/>
            <a:ext cx="2423160" cy="1481328"/>
          </a:xfrm>
          <a:prstGeom prst="rect">
            <a:avLst/>
          </a:prstGeom>
          <a:solidFill>
            <a:srgbClr val="0A1E35"/>
          </a:solidFill>
          <a:ln w="12700">
            <a:solidFill>
              <a:srgbClr val="5BA8F0"/>
            </a:solidFill>
            <a:prstDash val="solid"/>
          </a:ln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6766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56832" y="1207008"/>
            <a:ext cx="1097280" cy="32918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32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808976" y="1207008"/>
            <a:ext cx="1097280" cy="32918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5" name="Text 33"/>
          <p:cNvSpPr/>
          <p:nvPr/>
        </p:nvSpPr>
        <p:spPr>
          <a:xfrm>
            <a:off x="7808976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CADASTRO_RESIDUOS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56832" y="1609344"/>
            <a:ext cx="1097280" cy="32918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6656832" y="1609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TIPO_MATERIAL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808976" y="1609344"/>
            <a:ext cx="1097280" cy="32918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9" name="Text 37"/>
          <p:cNvSpPr/>
          <p:nvPr/>
        </p:nvSpPr>
        <p:spPr>
          <a:xfrm>
            <a:off x="7808976" y="1609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SUGESTOES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806440" y="2779776"/>
            <a:ext cx="777240" cy="457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41" name="Text 39"/>
          <p:cNvSpPr/>
          <p:nvPr/>
        </p:nvSpPr>
        <p:spPr>
          <a:xfrm>
            <a:off x="5806440" y="257860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83680" y="2359152"/>
            <a:ext cx="2423160" cy="1280160"/>
          </a:xfrm>
          <a:prstGeom prst="rect">
            <a:avLst/>
          </a:prstGeom>
          <a:solidFill>
            <a:srgbClr val="0A1E35"/>
          </a:solidFill>
          <a:ln w="25400">
            <a:solidFill>
              <a:srgbClr val="93C5FD"/>
            </a:solidFill>
            <a:prstDash val="solid"/>
          </a:ln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83680" y="23591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28529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NearbySearch · Text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Coleta · Localização GPS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7160" y="4187952"/>
            <a:ext cx="8869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20624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 ·  JWT na API · Swagger/OpenAPI documentado · Interface IPlacesService para testabilidade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50799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 ·  GooglePlacesService funcional · Endpoints CRUD · Modelagem relacional 5 tabelas · 181 commits Git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E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2E8DE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de Progresso — 182 Commits · Repositório GitHub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2834640" cy="4251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85800"/>
            <a:ext cx="2834640" cy="4754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685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960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commits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280160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280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solução C#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" y="1847088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8470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BaseViewModel + INotifyPropertyChanged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414016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41401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RelayCommand implementado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" y="2980944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98094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SQLite modelado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" y="4224528"/>
            <a:ext cx="2578608" cy="56692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" y="42245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72968" y="685800"/>
            <a:ext cx="2834640" cy="4251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685800"/>
            <a:ext cx="2834640" cy="47548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172968" y="685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Core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72968" y="960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commits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00984" y="1280160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24" name="Text 22"/>
          <p:cNvSpPr/>
          <p:nvPr/>
        </p:nvSpPr>
        <p:spPr>
          <a:xfrm>
            <a:off x="3374136" y="1280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XAML — Layout principal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00984" y="1847088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26" name="Text 24"/>
          <p:cNvSpPr/>
          <p:nvPr/>
        </p:nvSpPr>
        <p:spPr>
          <a:xfrm>
            <a:off x="3374136" y="18470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tela + ViewModel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00984" y="2414016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28" name="Text 26"/>
          <p:cNvSpPr/>
          <p:nvPr/>
        </p:nvSpPr>
        <p:spPr>
          <a:xfrm>
            <a:off x="3374136" y="241401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coleta + GooglePlacesService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00984" y="2980944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0" name="Text 28"/>
          <p:cNvSpPr/>
          <p:nvPr/>
        </p:nvSpPr>
        <p:spPr>
          <a:xfrm>
            <a:off x="3374136" y="298094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Resíduos — início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00984" y="4224528"/>
            <a:ext cx="2578608" cy="56692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2" name="Text 30"/>
          <p:cNvSpPr/>
          <p:nvPr/>
        </p:nvSpPr>
        <p:spPr>
          <a:xfrm>
            <a:off x="3300984" y="42245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63056" y="685800"/>
            <a:ext cx="2834640" cy="42519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685800"/>
            <a:ext cx="2834640" cy="475488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35" name="Text 33"/>
          <p:cNvSpPr/>
          <p:nvPr/>
        </p:nvSpPr>
        <p:spPr>
          <a:xfrm>
            <a:off x="6163056" y="685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API REST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63056" y="9601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commits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1072" y="1280160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38" name="Text 36"/>
          <p:cNvSpPr/>
          <p:nvPr/>
        </p:nvSpPr>
        <p:spPr>
          <a:xfrm>
            <a:off x="6364224" y="128016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ApiRestReGraphik — projeto criado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847088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40" name="Text 38"/>
          <p:cNvSpPr/>
          <p:nvPr/>
        </p:nvSpPr>
        <p:spPr>
          <a:xfrm>
            <a:off x="6364224" y="184708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Controllers: Resíduos, Usuários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91072" y="2414016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241401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endpoint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91072" y="2980944"/>
            <a:ext cx="2578608" cy="45720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44" name="Text 42"/>
          <p:cNvSpPr/>
          <p:nvPr/>
        </p:nvSpPr>
        <p:spPr>
          <a:xfrm>
            <a:off x="6364224" y="298094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API ↔ WPF Client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4224528"/>
            <a:ext cx="2578608" cy="566928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42245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Progresso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E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5BA8F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de Integração &amp; Artefatos Técnicos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13232"/>
            <a:ext cx="73152" cy="1280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777240"/>
            <a:ext cx="1005840" cy="27432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777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77724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Conceitual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Modelagem/Modelo Conceitual.pdf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3075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ER com as 5 entidades do domínio e seus relacionamentos.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1323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13232"/>
            <a:ext cx="73152" cy="1280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777240"/>
            <a:ext cx="1005840" cy="27432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777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28032" y="77724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Lógico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097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Modelagem/Modelo Lógico.pdf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8032" y="13075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 normalizado — PK, FK e restrições de integridade.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13055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130552"/>
            <a:ext cx="73152" cy="128016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2194560"/>
            <a:ext cx="1005840" cy="274320"/>
          </a:xfrm>
          <a:prstGeom prst="rect">
            <a:avLst/>
          </a:prstGeom>
          <a:solidFill>
            <a:srgbClr val="1E6EBF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219456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Físico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2514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Modelagem/MODELO FÍSICO.pdf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272491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completo — tabelas, índices e triggers para SQLite.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055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30552"/>
            <a:ext cx="73152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0" y="2194560"/>
            <a:ext cx="100584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28032" y="219456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2514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ApiRestReGraphik/swagger.json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8032" y="272491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Swagger UI no projeto da API para documentar os endpoints REST.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354787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547872"/>
            <a:ext cx="73152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3611880"/>
            <a:ext cx="1005840" cy="274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" y="361188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MVVM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" y="3931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Modelagem/ArquiteturaMVVM.pdf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1422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das ViewModels, bindings e Commands — deve refletir o código atual.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547872"/>
            <a:ext cx="4297680" cy="1280160"/>
          </a:xfrm>
          <a:prstGeom prst="rect">
            <a:avLst/>
          </a:prstGeom>
          <a:solidFill>
            <a:srgbClr val="0A1E35"/>
          </a:solidFill>
          <a:ln/>
          <a:effectLst>
            <a:outerShdw blurRad="1778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547872"/>
            <a:ext cx="73152" cy="12801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0" y="3611880"/>
            <a:ext cx="1005840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8032" y="361188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28032" y="3931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Tests/IntegrationTests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28032" y="41422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— fluxo ViewModel → Service → API é obrigatório.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Entrega — Itens Obrigatórios MVVM &amp; APIs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94944"/>
            <a:ext cx="42976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0896" y="905256"/>
            <a:ext cx="292608" cy="292608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905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" y="74980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BaseViewModel implementado com INotifyPropertyChanged e RaisePropertyChanged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536192"/>
            <a:ext cx="42976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" y="1746504"/>
            <a:ext cx="292608" cy="292608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15910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RelayCommand (ICommand) funcionando — binding de botões sem code-behind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377440"/>
            <a:ext cx="42976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" y="2587752"/>
            <a:ext cx="292608" cy="292608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" y="243230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GooglePlacesService desacoplado — chamada async, retorno List&lt;PontosColeta&gt;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218688"/>
            <a:ext cx="42976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" y="3429000"/>
            <a:ext cx="292608" cy="292608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" y="327355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modelado — 5 tabelas, FK e scripts SQL no repositório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4059936"/>
            <a:ext cx="42976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2E8DE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" y="4270248"/>
            <a:ext cx="292608" cy="292608"/>
          </a:xfrm>
          <a:prstGeom prst="ellipse">
            <a:avLst/>
          </a:prstGeom>
          <a:solidFill>
            <a:srgbClr val="5BA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" y="411480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criada — controllers de Resíduos, Usuários e Sugestões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694944"/>
            <a:ext cx="4297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905256"/>
            <a:ext cx="292608" cy="29260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905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74980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MVVM: remover dependências de UI diretas das ViewModels (Window, MessageBox)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536192"/>
            <a:ext cx="4297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1746504"/>
            <a:ext cx="292608" cy="29260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15910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ativo na API — endpoints acessíveis via /swagger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377440"/>
            <a:ext cx="4297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2587752"/>
            <a:ext cx="292608" cy="29260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75504" y="243230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IPlacesService: criar interface para injeção de dependência e mocking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218688"/>
            <a:ext cx="4297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91456" y="3429000"/>
            <a:ext cx="292608" cy="29260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4791456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75504" y="327355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arquitetura atualizado refletindo estado atual dos commits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059936"/>
            <a:ext cx="429768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F34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91456" y="4270248"/>
            <a:ext cx="292608" cy="29260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75504" y="411480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 — ao menos um fluxo ViewModel ↔ API coberto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1178</Words>
  <Application>Microsoft Office PowerPoint</Application>
  <PresentationFormat>Apresentação na tela (16:9)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ReGraphik — Arquitetura MVVM &amp; APIs</dc:title>
  <dc:subject>PptxGenJS Presentation</dc:subject>
  <dc:creator>PptxGenJS</dc:creator>
  <cp:lastModifiedBy>Bruno Maia Santos</cp:lastModifiedBy>
  <cp:revision>9</cp:revision>
  <dcterms:created xsi:type="dcterms:W3CDTF">2026-05-26T00:04:51Z</dcterms:created>
  <dcterms:modified xsi:type="dcterms:W3CDTF">2026-05-26T22:12:19Z</dcterms:modified>
</cp:coreProperties>
</file>